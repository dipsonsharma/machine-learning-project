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N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2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Reported test accuracy (%)</c:v>
          </c:tx>
          <c:spPr>
            <a:solidFill>
              <a:srgbClr val="3D8DF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Loan</c:v>
              </c:pt>
              <c:pt idx="1">
                <c:v>Churn</c:v>
              </c:pt>
              <c:pt idx="2">
                <c:v>Attrition</c:v>
              </c:pt>
              <c:pt idx="3">
                <c:v>Heart</c:v>
              </c:pt>
              <c:pt idx="4">
                <c:v>Student</c:v>
              </c:pt>
            </c:strLit>
          </c:cat>
          <c:val>
            <c:numLit>
              <c:formatCode>General</c:formatCode>
              <c:ptCount val="5"/>
              <c:pt idx="0">
                <c:v>98.78</c:v>
              </c:pt>
              <c:pt idx="1">
                <c:v>84.06</c:v>
              </c:pt>
              <c:pt idx="2">
                <c:v>90.28</c:v>
              </c:pt>
              <c:pt idx="3">
                <c:v>97.44</c:v>
              </c:pt>
              <c:pt idx="4">
                <c:v>99.18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70C-CA40-87C3-A19B9C7EDAD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121212"/>
                </a:solidFill>
                <a:latin typeface="Helvetica Neue"/>
                <a:ea typeface="Helvetica Neue"/>
                <a:cs typeface="Helvetica Neue"/>
              </a:defRPr>
            </a:pPr>
            <a:endParaRPr lang="en-NP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E5E7EB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5F6771"/>
                </a:solidFill>
                <a:latin typeface="Helvetica Neue"/>
                <a:ea typeface="Helvetica Neue"/>
                <a:cs typeface="Helvetica Neue"/>
              </a:defRPr>
            </a:pPr>
            <a:endParaRPr lang="en-NP"/>
          </a:p>
        </c:txPr>
        <c:crossAx val="48650112"/>
        <c:crosses val="autoZero"/>
        <c:crossBetween val="between"/>
        <c:majorUnit val="20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Project notebooks and saved outputs supplied by the author. No external sources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Project notebooks and saved outputs supplied by the author. No external sources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Project notebooks and saved outputs supplied by the author. No external sources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Project notebooks and saved outputs supplied by the author. No external sources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Project notebooks and saved outputs supplied by the author. No external sources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Project notebooks and saved outputs supplied by the author. No external sources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Project notebooks and saved outputs supplied by the author. No external sources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Project notebooks and saved outputs supplied by the author. No external sources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7017099-364F-4DDE-92AA-69E29519EF31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MACHINE LEARNING PORTFOLIO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E7639B-A33E-4FB4-A5EB-0FA2CEE54457}"/>
              </a:ext>
            </a:extLst>
          </p:cNvPr>
          <p:cNvSpPr>
            <a:spLocks noGrp="1"/>
          </p:cNvSpPr>
          <p:nvPr/>
        </p:nvSpPr>
        <p:spPr>
          <a:xfrm>
            <a:off x="552450" y="1952625"/>
            <a:ext cx="99060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4800" b="1" i="0">
                <a:solidFill>
                  <a:srgbClr val="1212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 i="0">
                <a:solidFill>
                  <a:srgbClr val="121212"/>
                </a:solidFill>
                <a:latin typeface="Helvetica Neue"/>
                <a:ea typeface="Helvetica Neue"/>
                <a:cs typeface="Helvetica Neue"/>
              </a:rPr>
              <a:t>Ten tabular prediction models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4CD832-9C6D-4F4A-973C-D7AD6BA88A0B}"/>
              </a:ext>
            </a:extLst>
          </p:cNvPr>
          <p:cNvSpPr>
            <a:spLocks noGrp="1"/>
          </p:cNvSpPr>
          <p:nvPr/>
        </p:nvSpPr>
        <p:spPr>
          <a:xfrm>
            <a:off x="552450" y="3143250"/>
            <a:ext cx="7620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0" i="0">
                <a:solidFill>
                  <a:srgbClr val="5F67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 i="0">
                <a:solidFill>
                  <a:srgbClr val="5F6771"/>
                </a:solidFill>
                <a:latin typeface="Helvetica Neue"/>
                <a:ea typeface="Helvetica Neue"/>
                <a:cs typeface="Helvetica Neue"/>
              </a:rPr>
              <a:t>A concise review of classification and regression notebooks across finance, health, people, education, and pricing.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5640D6-506D-4261-894A-26715D5BABDC}"/>
              </a:ext>
            </a:extLst>
          </p:cNvPr>
          <p:cNvSpPr>
            <a:spLocks noGrp="1"/>
          </p:cNvSpPr>
          <p:nvPr/>
        </p:nvSpPr>
        <p:spPr>
          <a:xfrm>
            <a:off x="552450" y="4333875"/>
            <a:ext cx="11087100" cy="19050"/>
          </a:xfrm>
          <a:prstGeom prst="rect">
            <a:avLst/>
          </a:prstGeom>
          <a:solidFill>
            <a:srgbClr val="CBD1D7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59BCDC-901B-4E87-981F-43103A809BCF}"/>
              </a:ext>
            </a:extLst>
          </p:cNvPr>
          <p:cNvSpPr>
            <a:spLocks noGrp="1"/>
          </p:cNvSpPr>
          <p:nvPr/>
        </p:nvSpPr>
        <p:spPr>
          <a:xfrm>
            <a:off x="552450" y="462915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5F67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771"/>
                </a:solidFill>
                <a:latin typeface="Helvetica Neue"/>
                <a:ea typeface="Helvetica Neue"/>
                <a:cs typeface="Helvetica Neue"/>
              </a:rPr>
              <a:t>Prepared by Dipson Sharma  •  August 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3D3FBF-6364-4B26-940C-CCD9E0F65371}"/>
              </a:ext>
            </a:extLst>
          </p:cNvPr>
          <p:cNvSpPr>
            <a:spLocks noGrp="1"/>
          </p:cNvSpPr>
          <p:nvPr/>
        </p:nvSpPr>
        <p:spPr>
          <a:xfrm>
            <a:off x="552450" y="5715000"/>
            <a:ext cx="952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10 projects  /  7 classification  /  3 regression</a:t>
            </a:r>
          </a:p>
        </p:txBody>
      </p:sp>
    </p:spTree>
    <p:extLst>
      <p:ext uri="{BB962C8B-B14F-4D97-AF65-F5344CB8AC3E}">
        <p14:creationId xmlns:p14="http://schemas.microsoft.com/office/powerpoint/2010/main" val="55251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794BC14-8E0A-4EC9-A178-507CC2C562FA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PORTFOLIO OVERVIEW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F43C5F-3A71-45E1-9C0C-C774D78CF3DD}"/>
              </a:ext>
            </a:extLst>
          </p:cNvPr>
          <p:cNvSpPr>
            <a:spLocks noGrp="1"/>
          </p:cNvSpPr>
          <p:nvPr/>
        </p:nvSpPr>
        <p:spPr>
          <a:xfrm>
            <a:off x="552450" y="6667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1212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21212"/>
                </a:solidFill>
                <a:latin typeface="Helvetica Neue"/>
                <a:ea typeface="Helvetica Neue"/>
                <a:cs typeface="Helvetica Neue"/>
              </a:rPr>
              <a:t>The work spans ten practical prediction problems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408F64-BD05-4365-B0A7-AC2B14801D61}"/>
              </a:ext>
            </a:extLst>
          </p:cNvPr>
          <p:cNvSpPr>
            <a:spLocks noGrp="1"/>
          </p:cNvSpPr>
          <p:nvPr/>
        </p:nvSpPr>
        <p:spPr>
          <a:xfrm>
            <a:off x="552450" y="1362075"/>
            <a:ext cx="1057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5F67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5F6771"/>
                </a:solidFill>
                <a:latin typeface="Helvetica Neue"/>
                <a:ea typeface="Helvetica Neue"/>
                <a:cs typeface="Helvetica Neue"/>
              </a:rPr>
              <a:t>Each notebook follows an end-to-end tabular ML workflow: preparation, holdout evaluation, model comparison, and—where selected—hyperparameter tuning.</a:t>
            </a:r>
          </a:p>
        </p:txBody>
      </p:sp>
      <p:graphicFrame>
        <p:nvGraphicFramePr>
          <p:cNvPr id="9" name="Table 8"/>
          <p:cNvGraphicFramePr/>
          <p:nvPr/>
        </p:nvGraphicFramePr>
        <p:xfrm>
          <a:off x="552450" y="2143125"/>
          <a:ext cx="11087100" cy="3200400"/>
        </p:xfrm>
        <a:graphic>
          <a:graphicData uri="http://schemas.openxmlformats.org/drawingml/2006/table">
            <a:tbl>
              <a:tblPr firstRow="1" bandRow="1"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6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21212"/>
                          </a:solidFill>
                        </a:rPr>
                        <a:t>Portfolio area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21212"/>
                          </a:solidFill>
                        </a:rPr>
                        <a:t>Projects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21212"/>
                          </a:solidFill>
                        </a:rPr>
                        <a:t>Typical approach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212"/>
                          </a:solidFill>
                        </a:rPr>
                        <a:t>Finance &amp; 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212"/>
                          </a:solidFill>
                        </a:rPr>
                        <a:t>Loan approval; credit-card fraud; churn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212"/>
                          </a:solidFill>
                        </a:rPr>
                        <a:t>Classification; F1, recall, and ROC-AUC guide comparison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212"/>
                          </a:solidFill>
                        </a:rPr>
                        <a:t>Health &amp; people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212"/>
                          </a:solidFill>
                        </a:rPr>
                        <a:t>Diabetes; attrition; heart disease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212"/>
                          </a:solidFill>
                        </a:rPr>
                        <a:t>Classification; recall and fairness/clinical checks matter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212"/>
                          </a:solidFill>
                        </a:rPr>
                        <a:t>Education &amp; 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212"/>
                          </a:solidFill>
                        </a:rPr>
                        <a:t>Student performance; employee salary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212"/>
                          </a:solidFill>
                        </a:rPr>
                        <a:t>Classification and regression; target design and interpretability matter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212"/>
                          </a:solidFill>
                        </a:rPr>
                        <a:t>Property &amp; vehicles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212"/>
                          </a:solidFill>
                        </a:rPr>
                        <a:t>House price; used-car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212"/>
                          </a:solidFill>
                        </a:rPr>
                        <a:t>Regression; MAE, RMSE, R², and feature quality matter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7826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5ABAA1B-8441-4308-9CD2-9E8EE1550716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SHARED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01058D-B271-4511-8775-FCD20FAAE087}"/>
              </a:ext>
            </a:extLst>
          </p:cNvPr>
          <p:cNvSpPr>
            <a:spLocks noGrp="1"/>
          </p:cNvSpPr>
          <p:nvPr/>
        </p:nvSpPr>
        <p:spPr>
          <a:xfrm>
            <a:off x="552450" y="6667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846"/>
          </a:bodyPr>
          <a:lstStyle/>
          <a:p>
            <a:pPr algn="l">
              <a:defRPr sz="2850" b="1" i="0">
                <a:solidFill>
                  <a:srgbClr val="1212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21212"/>
                </a:solidFill>
                <a:latin typeface="Helvetica Neue"/>
                <a:ea typeface="Helvetica Neue"/>
                <a:cs typeface="Helvetica Neue"/>
              </a:rPr>
              <a:t>The strongest portfolio pattern is a repeatable tabular-ML pipeline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37297C-1807-4641-B5C6-EEB43B938BCC}"/>
              </a:ext>
            </a:extLst>
          </p:cNvPr>
          <p:cNvSpPr>
            <a:spLocks noGrp="1"/>
          </p:cNvSpPr>
          <p:nvPr/>
        </p:nvSpPr>
        <p:spPr>
          <a:xfrm>
            <a:off x="552450" y="1638300"/>
            <a:ext cx="2047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  Inspect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302C60-A392-4065-A087-36F8D1CFA31B}"/>
              </a:ext>
            </a:extLst>
          </p:cNvPr>
          <p:cNvSpPr>
            <a:spLocks noGrp="1"/>
          </p:cNvSpPr>
          <p:nvPr/>
        </p:nvSpPr>
        <p:spPr>
          <a:xfrm>
            <a:off x="2809875" y="1638300"/>
            <a:ext cx="8143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1212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21212"/>
                </a:solidFill>
                <a:latin typeface="Helvetica Neue"/>
                <a:ea typeface="Helvetica Neue"/>
                <a:cs typeface="Helvetica Neue"/>
              </a:rPr>
              <a:t>Missing values, duplicates, distributions, class balance, and outliers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A2DDA6-2A48-4CBB-A692-3795F939593C}"/>
              </a:ext>
            </a:extLst>
          </p:cNvPr>
          <p:cNvSpPr>
            <a:spLocks noGrp="1"/>
          </p:cNvSpPr>
          <p:nvPr/>
        </p:nvSpPr>
        <p:spPr>
          <a:xfrm>
            <a:off x="552450" y="2085975"/>
            <a:ext cx="10401300" cy="9525"/>
          </a:xfrm>
          <a:prstGeom prst="rect">
            <a:avLst/>
          </a:prstGeom>
          <a:solidFill>
            <a:srgbClr val="CBD1D7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FAA558-65A0-4180-B072-E0BC81BA9F7A}"/>
              </a:ext>
            </a:extLst>
          </p:cNvPr>
          <p:cNvSpPr>
            <a:spLocks noGrp="1"/>
          </p:cNvSpPr>
          <p:nvPr/>
        </p:nvSpPr>
        <p:spPr>
          <a:xfrm>
            <a:off x="552450" y="2333625"/>
            <a:ext cx="2047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  Prepare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DD1635-E869-45C9-B063-93DC3688AC3A}"/>
              </a:ext>
            </a:extLst>
          </p:cNvPr>
          <p:cNvSpPr>
            <a:spLocks noGrp="1"/>
          </p:cNvSpPr>
          <p:nvPr/>
        </p:nvSpPr>
        <p:spPr>
          <a:xfrm>
            <a:off x="2809875" y="2333625"/>
            <a:ext cx="8143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1212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21212"/>
                </a:solidFill>
                <a:latin typeface="Helvetica Neue"/>
                <a:ea typeface="Helvetica Neue"/>
                <a:cs typeface="Helvetica Neue"/>
              </a:rPr>
              <a:t>Remove IDs, engineer features, encode categories, and scale numeric inputs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ADBE7C-6E9B-41CD-A5D7-BF1945EB6674}"/>
              </a:ext>
            </a:extLst>
          </p:cNvPr>
          <p:cNvSpPr>
            <a:spLocks noGrp="1"/>
          </p:cNvSpPr>
          <p:nvPr/>
        </p:nvSpPr>
        <p:spPr>
          <a:xfrm>
            <a:off x="552450" y="2781300"/>
            <a:ext cx="10401300" cy="9525"/>
          </a:xfrm>
          <a:prstGeom prst="rect">
            <a:avLst/>
          </a:prstGeom>
          <a:solidFill>
            <a:srgbClr val="CBD1D7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EDCBB5-66C5-4D81-A33B-101119768CAA}"/>
              </a:ext>
            </a:extLst>
          </p:cNvPr>
          <p:cNvSpPr>
            <a:spLocks noGrp="1"/>
          </p:cNvSpPr>
          <p:nvPr/>
        </p:nvSpPr>
        <p:spPr>
          <a:xfrm>
            <a:off x="552450" y="3028950"/>
            <a:ext cx="2047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  Split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D0EC29-570E-4120-8A7F-437EEFEEDD9D}"/>
              </a:ext>
            </a:extLst>
          </p:cNvPr>
          <p:cNvSpPr>
            <a:spLocks noGrp="1"/>
          </p:cNvSpPr>
          <p:nvPr/>
        </p:nvSpPr>
        <p:spPr>
          <a:xfrm>
            <a:off x="2809875" y="3028950"/>
            <a:ext cx="8143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1212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21212"/>
                </a:solidFill>
                <a:latin typeface="Helvetica Neue"/>
                <a:ea typeface="Helvetica Neue"/>
                <a:cs typeface="Helvetica Neue"/>
              </a:rPr>
              <a:t>Use a reproducible holdout split—typically 75/25 or 70/30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A9D6C9-9B00-4F7D-958C-E709868764DB}"/>
              </a:ext>
            </a:extLst>
          </p:cNvPr>
          <p:cNvSpPr>
            <a:spLocks noGrp="1"/>
          </p:cNvSpPr>
          <p:nvPr/>
        </p:nvSpPr>
        <p:spPr>
          <a:xfrm>
            <a:off x="552450" y="3476625"/>
            <a:ext cx="10401300" cy="9525"/>
          </a:xfrm>
          <a:prstGeom prst="rect">
            <a:avLst/>
          </a:prstGeom>
          <a:solidFill>
            <a:srgbClr val="CBD1D7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4AB3AF-1C82-468E-BDF3-11E208C919F9}"/>
              </a:ext>
            </a:extLst>
          </p:cNvPr>
          <p:cNvSpPr>
            <a:spLocks noGrp="1"/>
          </p:cNvSpPr>
          <p:nvPr/>
        </p:nvSpPr>
        <p:spPr>
          <a:xfrm>
            <a:off x="552450" y="3724275"/>
            <a:ext cx="2047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  Compare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50A749-42DE-41D4-B78F-E0D1467A8EA7}"/>
              </a:ext>
            </a:extLst>
          </p:cNvPr>
          <p:cNvSpPr>
            <a:spLocks noGrp="1"/>
          </p:cNvSpPr>
          <p:nvPr/>
        </p:nvSpPr>
        <p:spPr>
          <a:xfrm>
            <a:off x="2809875" y="3724275"/>
            <a:ext cx="8143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1212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21212"/>
                </a:solidFill>
                <a:latin typeface="Helvetica Neue"/>
                <a:ea typeface="Helvetica Neue"/>
                <a:cs typeface="Helvetica Neue"/>
              </a:rPr>
              <a:t>Test linear, distance-based, tree, ensemble, and support-vector models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061283-5FE3-44BC-9A4B-F8EF3C18D31A}"/>
              </a:ext>
            </a:extLst>
          </p:cNvPr>
          <p:cNvSpPr>
            <a:spLocks noGrp="1"/>
          </p:cNvSpPr>
          <p:nvPr/>
        </p:nvSpPr>
        <p:spPr>
          <a:xfrm>
            <a:off x="552450" y="4171950"/>
            <a:ext cx="10401300" cy="9525"/>
          </a:xfrm>
          <a:prstGeom prst="rect">
            <a:avLst/>
          </a:prstGeom>
          <a:solidFill>
            <a:srgbClr val="CBD1D7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FB433B-E289-43F6-8AA9-E6A7F096226E}"/>
              </a:ext>
            </a:extLst>
          </p:cNvPr>
          <p:cNvSpPr>
            <a:spLocks noGrp="1"/>
          </p:cNvSpPr>
          <p:nvPr/>
        </p:nvSpPr>
        <p:spPr>
          <a:xfrm>
            <a:off x="552450" y="4419600"/>
            <a:ext cx="2047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05  Select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4CCCBED-7AA6-4AF7-A343-6F6C36896314}"/>
              </a:ext>
            </a:extLst>
          </p:cNvPr>
          <p:cNvSpPr>
            <a:spLocks noGrp="1"/>
          </p:cNvSpPr>
          <p:nvPr/>
        </p:nvSpPr>
        <p:spPr>
          <a:xfrm>
            <a:off x="2809875" y="4419600"/>
            <a:ext cx="8143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1212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21212"/>
                </a:solidFill>
                <a:latin typeface="Helvetica Neue"/>
                <a:ea typeface="Helvetica Neue"/>
                <a:cs typeface="Helvetica Neue"/>
              </a:rPr>
              <a:t>Rank with task-appropriate metrics such as F1, recall, ROC-AUC, or R²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1A9079-07D6-47B3-ABED-EBA8C6CDEA4E}"/>
              </a:ext>
            </a:extLst>
          </p:cNvPr>
          <p:cNvSpPr>
            <a:spLocks noGrp="1"/>
          </p:cNvSpPr>
          <p:nvPr/>
        </p:nvSpPr>
        <p:spPr>
          <a:xfrm>
            <a:off x="552450" y="4867275"/>
            <a:ext cx="10401300" cy="9525"/>
          </a:xfrm>
          <a:prstGeom prst="rect">
            <a:avLst/>
          </a:prstGeom>
          <a:solidFill>
            <a:srgbClr val="CBD1D7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47AD79B-90CE-405A-911E-79C25FFD166A}"/>
              </a:ext>
            </a:extLst>
          </p:cNvPr>
          <p:cNvSpPr>
            <a:spLocks noGrp="1"/>
          </p:cNvSpPr>
          <p:nvPr/>
        </p:nvSpPr>
        <p:spPr>
          <a:xfrm>
            <a:off x="552450" y="5114925"/>
            <a:ext cx="2047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06  Refine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31E398C-F1E6-43F2-960D-B754EF9BBD3C}"/>
              </a:ext>
            </a:extLst>
          </p:cNvPr>
          <p:cNvSpPr>
            <a:spLocks noGrp="1"/>
          </p:cNvSpPr>
          <p:nvPr/>
        </p:nvSpPr>
        <p:spPr>
          <a:xfrm>
            <a:off x="2809875" y="5114925"/>
            <a:ext cx="8143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1212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21212"/>
                </a:solidFill>
                <a:latin typeface="Helvetica Neue"/>
                <a:ea typeface="Helvetica Neue"/>
                <a:cs typeface="Helvetica Neue"/>
              </a:rPr>
              <a:t>Tune selected models and generate predictions/probabilities for unseen data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6BF17B-7FEA-4EAD-BC8C-89E6D5C20ECC}"/>
              </a:ext>
            </a:extLst>
          </p:cNvPr>
          <p:cNvSpPr>
            <a:spLocks noGrp="1"/>
          </p:cNvSpPr>
          <p:nvPr/>
        </p:nvSpPr>
        <p:spPr>
          <a:xfrm>
            <a:off x="552450" y="5562600"/>
            <a:ext cx="10401300" cy="9525"/>
          </a:xfrm>
          <a:prstGeom prst="rect">
            <a:avLst/>
          </a:prstGeom>
          <a:solidFill>
            <a:srgbClr val="CBD1D7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51141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BC41D49-CB46-4088-B61D-8C4127521995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CLASSIFICATION — FINANCE AND CUSTOMERS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3EFE13-EF73-468B-BE03-9D888DD16789}"/>
              </a:ext>
            </a:extLst>
          </p:cNvPr>
          <p:cNvSpPr>
            <a:spLocks noGrp="1"/>
          </p:cNvSpPr>
          <p:nvPr/>
        </p:nvSpPr>
        <p:spPr>
          <a:xfrm>
            <a:off x="552450" y="6667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1212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21212"/>
                </a:solidFill>
                <a:latin typeface="Helvetica Neue"/>
                <a:ea typeface="Helvetica Neue"/>
                <a:cs typeface="Helvetica Neue"/>
              </a:rPr>
              <a:t>Different business risks require different selection metrics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8380FC5-55AD-4D96-8202-167ACEB37F42}"/>
              </a:ext>
            </a:extLst>
          </p:cNvPr>
          <p:cNvSpPr>
            <a:spLocks noGrp="1"/>
          </p:cNvSpPr>
          <p:nvPr/>
        </p:nvSpPr>
        <p:spPr>
          <a:xfrm>
            <a:off x="552450" y="1571625"/>
            <a:ext cx="5257800" cy="2000250"/>
          </a:xfrm>
          <a:prstGeom prst="roundRect">
            <a:avLst>
              <a:gd name="adj" fmla="val 5714"/>
            </a:avLst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0113D5-F19A-439C-B3A0-80E811803412}"/>
              </a:ext>
            </a:extLst>
          </p:cNvPr>
          <p:cNvSpPr>
            <a:spLocks noGrp="1"/>
          </p:cNvSpPr>
          <p:nvPr/>
        </p:nvSpPr>
        <p:spPr>
          <a:xfrm>
            <a:off x="762000" y="1743075"/>
            <a:ext cx="4838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Loan approval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D67AA1-5EC4-4BFD-9645-D1E19D6DE240}"/>
              </a:ext>
            </a:extLst>
          </p:cNvPr>
          <p:cNvSpPr>
            <a:spLocks noGrp="1"/>
          </p:cNvSpPr>
          <p:nvPr/>
        </p:nvSpPr>
        <p:spPr>
          <a:xfrm>
            <a:off x="762000" y="2200275"/>
            <a:ext cx="48387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F67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F6771"/>
                </a:solidFill>
                <a:latin typeface="Helvetica Neue"/>
                <a:ea typeface="Helvetica Neue"/>
                <a:cs typeface="Helvetica Neue"/>
              </a:rPr>
              <a:t>XGBoost was selected after a six-model comparison ranked by F1. Reported test accuracy: 98.78%. Very high scores merit leakage checks.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8594B43-8E14-41EF-B17D-638633EC4D79}"/>
              </a:ext>
            </a:extLst>
          </p:cNvPr>
          <p:cNvSpPr>
            <a:spLocks noGrp="1"/>
          </p:cNvSpPr>
          <p:nvPr/>
        </p:nvSpPr>
        <p:spPr>
          <a:xfrm>
            <a:off x="6381750" y="1571625"/>
            <a:ext cx="5257800" cy="2000250"/>
          </a:xfrm>
          <a:prstGeom prst="roundRect">
            <a:avLst>
              <a:gd name="adj" fmla="val 5714"/>
            </a:avLst>
          </a:prstGeom>
          <a:solidFill>
            <a:srgbClr val="F2F4F6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45E8D0-6C06-482E-9CEB-AFCDAA05FCAE}"/>
              </a:ext>
            </a:extLst>
          </p:cNvPr>
          <p:cNvSpPr>
            <a:spLocks noGrp="1"/>
          </p:cNvSpPr>
          <p:nvPr/>
        </p:nvSpPr>
        <p:spPr>
          <a:xfrm>
            <a:off x="6591300" y="1743075"/>
            <a:ext cx="4838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1212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21212"/>
                </a:solidFill>
                <a:latin typeface="Helvetica Neue"/>
                <a:ea typeface="Helvetica Neue"/>
                <a:cs typeface="Helvetica Neue"/>
              </a:rPr>
              <a:t>Credit-card fraud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0C1DE7-1AF6-4732-BE6B-75CFB1B1C89B}"/>
              </a:ext>
            </a:extLst>
          </p:cNvPr>
          <p:cNvSpPr>
            <a:spLocks noGrp="1"/>
          </p:cNvSpPr>
          <p:nvPr/>
        </p:nvSpPr>
        <p:spPr>
          <a:xfrm>
            <a:off x="6591300" y="2200275"/>
            <a:ext cx="48387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F67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F6771"/>
                </a:solidFill>
                <a:latin typeface="Helvetica Neue"/>
                <a:ea typeface="Helvetica Neue"/>
                <a:cs typeface="Helvetica Neue"/>
              </a:rPr>
              <a:t>SVC was selected using ROC-AUC; the notebook emphasizes recall to limit missed fraud. It also demonstrates predictions on unseen rows.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CD3CC2A-15DA-40E9-B848-444A563EBDC5}"/>
              </a:ext>
            </a:extLst>
          </p:cNvPr>
          <p:cNvSpPr>
            <a:spLocks noGrp="1"/>
          </p:cNvSpPr>
          <p:nvPr/>
        </p:nvSpPr>
        <p:spPr>
          <a:xfrm>
            <a:off x="552450" y="3924300"/>
            <a:ext cx="5257800" cy="2000250"/>
          </a:xfrm>
          <a:prstGeom prst="roundRect">
            <a:avLst>
              <a:gd name="adj" fmla="val 5714"/>
            </a:avLst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855A7B-08CE-47C8-8D72-6F7B1894A006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4838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Customer churn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A61AE5-7DEC-4C12-A0B7-5E7E6ADBDF49}"/>
              </a:ext>
            </a:extLst>
          </p:cNvPr>
          <p:cNvSpPr>
            <a:spLocks noGrp="1"/>
          </p:cNvSpPr>
          <p:nvPr/>
        </p:nvSpPr>
        <p:spPr>
          <a:xfrm>
            <a:off x="762000" y="4552950"/>
            <a:ext cx="48387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F67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F6771"/>
                </a:solidFill>
                <a:latin typeface="Helvetica Neue"/>
                <a:ea typeface="Helvetica Neue"/>
                <a:cs typeface="Helvetica Neue"/>
              </a:rPr>
              <a:t>XGBoost was selected using F1 after one-hot encoding and scaling. Reported test accuracy: 84.06%; output includes churn probabilities.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A432B4F-1F13-452D-A0D0-7F8CC61E374A}"/>
              </a:ext>
            </a:extLst>
          </p:cNvPr>
          <p:cNvSpPr>
            <a:spLocks noGrp="1"/>
          </p:cNvSpPr>
          <p:nvPr/>
        </p:nvSpPr>
        <p:spPr>
          <a:xfrm>
            <a:off x="6381750" y="3924300"/>
            <a:ext cx="5257800" cy="2000250"/>
          </a:xfrm>
          <a:prstGeom prst="roundRect">
            <a:avLst>
              <a:gd name="adj" fmla="val 5714"/>
            </a:avLst>
          </a:prstGeom>
          <a:solidFill>
            <a:srgbClr val="F2F4F6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DB6D7D-6374-4764-BF3F-A865AB6E9DED}"/>
              </a:ext>
            </a:extLst>
          </p:cNvPr>
          <p:cNvSpPr>
            <a:spLocks noGrp="1"/>
          </p:cNvSpPr>
          <p:nvPr/>
        </p:nvSpPr>
        <p:spPr>
          <a:xfrm>
            <a:off x="6591300" y="4095750"/>
            <a:ext cx="4838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1212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21212"/>
                </a:solidFill>
                <a:latin typeface="Helvetica Neue"/>
                <a:ea typeface="Helvetica Neue"/>
                <a:cs typeface="Helvetica Neue"/>
              </a:rPr>
              <a:t>Interpretation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98697C-445C-47D8-950C-F63067685B8C}"/>
              </a:ext>
            </a:extLst>
          </p:cNvPr>
          <p:cNvSpPr>
            <a:spLocks noGrp="1"/>
          </p:cNvSpPr>
          <p:nvPr/>
        </p:nvSpPr>
        <p:spPr>
          <a:xfrm>
            <a:off x="6591300" y="4552950"/>
            <a:ext cx="48387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F67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F6771"/>
                </a:solidFill>
                <a:latin typeface="Helvetica Neue"/>
                <a:ea typeface="Helvetica Neue"/>
                <a:cs typeface="Helvetica Neue"/>
              </a:rPr>
              <a:t>Accuracy alone is not enough for fraud and churn. Thresholds should reflect the trade-off between missed cases and false alerts.</a:t>
            </a:r>
          </a:p>
        </p:txBody>
      </p:sp>
    </p:spTree>
    <p:extLst>
      <p:ext uri="{BB962C8B-B14F-4D97-AF65-F5344CB8AC3E}">
        <p14:creationId xmlns:p14="http://schemas.microsoft.com/office/powerpoint/2010/main" val="1716060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02628A1-750B-475C-B6F3-13174B72CB4E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CLASSIFICATION — HEALTH, PEOPLE, AND EDUCATION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877F64-E471-4686-A4CF-B4908944BD16}"/>
              </a:ext>
            </a:extLst>
          </p:cNvPr>
          <p:cNvSpPr>
            <a:spLocks noGrp="1"/>
          </p:cNvSpPr>
          <p:nvPr/>
        </p:nvSpPr>
        <p:spPr>
          <a:xfrm>
            <a:off x="552450" y="6667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1257"/>
          </a:bodyPr>
          <a:lstStyle/>
          <a:p>
            <a:pPr algn="l">
              <a:defRPr sz="2850" b="1" i="0">
                <a:solidFill>
                  <a:srgbClr val="1212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21212"/>
                </a:solidFill>
                <a:latin typeface="Helvetica Neue"/>
                <a:ea typeface="Helvetica Neue"/>
                <a:cs typeface="Helvetica Neue"/>
              </a:rPr>
              <a:t>High accuracy is useful only when the target and decision context are sound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DD8864E-FC4B-4F09-99D0-638DD341507C}"/>
              </a:ext>
            </a:extLst>
          </p:cNvPr>
          <p:cNvSpPr>
            <a:spLocks noGrp="1"/>
          </p:cNvSpPr>
          <p:nvPr/>
        </p:nvSpPr>
        <p:spPr>
          <a:xfrm>
            <a:off x="552450" y="1571625"/>
            <a:ext cx="5257800" cy="2000250"/>
          </a:xfrm>
          <a:prstGeom prst="roundRect">
            <a:avLst>
              <a:gd name="adj" fmla="val 5714"/>
            </a:avLst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542231-DDC0-4CA7-A456-CCC8854EC93E}"/>
              </a:ext>
            </a:extLst>
          </p:cNvPr>
          <p:cNvSpPr>
            <a:spLocks noGrp="1"/>
          </p:cNvSpPr>
          <p:nvPr/>
        </p:nvSpPr>
        <p:spPr>
          <a:xfrm>
            <a:off x="762000" y="1743075"/>
            <a:ext cx="4838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Diabetes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274A25-0E06-4CE1-B766-50D9080A6618}"/>
              </a:ext>
            </a:extLst>
          </p:cNvPr>
          <p:cNvSpPr>
            <a:spLocks noGrp="1"/>
          </p:cNvSpPr>
          <p:nvPr/>
        </p:nvSpPr>
        <p:spPr>
          <a:xfrm>
            <a:off x="762000" y="2200275"/>
            <a:ext cx="48387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F67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F6771"/>
                </a:solidFill>
                <a:latin typeface="Helvetica Neue"/>
                <a:ea typeface="Helvetica Neue"/>
                <a:cs typeface="Helvetica Neue"/>
              </a:rPr>
              <a:t>KNN is selected by recall after standardizing age, BMI, HbA1c, and glucose inputs. XGBoost records the highest listed accuracy: 98.07%.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5B829FE-8A58-4C0C-BD81-711CB1E654F2}"/>
              </a:ext>
            </a:extLst>
          </p:cNvPr>
          <p:cNvSpPr>
            <a:spLocks noGrp="1"/>
          </p:cNvSpPr>
          <p:nvPr/>
        </p:nvSpPr>
        <p:spPr>
          <a:xfrm>
            <a:off x="6381750" y="1571625"/>
            <a:ext cx="5257800" cy="2000250"/>
          </a:xfrm>
          <a:prstGeom prst="roundRect">
            <a:avLst>
              <a:gd name="adj" fmla="val 5714"/>
            </a:avLst>
          </a:prstGeom>
          <a:solidFill>
            <a:srgbClr val="F2F4F6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457A30-AE6E-4EFF-BE26-C736BBB16E2D}"/>
              </a:ext>
            </a:extLst>
          </p:cNvPr>
          <p:cNvSpPr>
            <a:spLocks noGrp="1"/>
          </p:cNvSpPr>
          <p:nvPr/>
        </p:nvSpPr>
        <p:spPr>
          <a:xfrm>
            <a:off x="6591300" y="1743075"/>
            <a:ext cx="4838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1212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21212"/>
                </a:solidFill>
                <a:latin typeface="Helvetica Neue"/>
                <a:ea typeface="Helvetica Neue"/>
                <a:cs typeface="Helvetica Neue"/>
              </a:rPr>
              <a:t>Employee attrition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41A987-BE82-4706-966F-9494391ED9D4}"/>
              </a:ext>
            </a:extLst>
          </p:cNvPr>
          <p:cNvSpPr>
            <a:spLocks noGrp="1"/>
          </p:cNvSpPr>
          <p:nvPr/>
        </p:nvSpPr>
        <p:spPr>
          <a:xfrm>
            <a:off x="6591300" y="2200275"/>
            <a:ext cx="48387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F67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F6771"/>
                </a:solidFill>
                <a:latin typeface="Helvetica Neue"/>
                <a:ea typeface="Helvetica Neue"/>
                <a:cs typeface="Helvetica Neue"/>
              </a:rPr>
              <a:t>Random forest is selected using F1 after focused HR feature preparation. Reported test accuracy: 90.28%. Use only as a human-reviewed support tool.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80F6222-C569-43AD-9BFB-2937E4F8777E}"/>
              </a:ext>
            </a:extLst>
          </p:cNvPr>
          <p:cNvSpPr>
            <a:spLocks noGrp="1"/>
          </p:cNvSpPr>
          <p:nvPr/>
        </p:nvSpPr>
        <p:spPr>
          <a:xfrm>
            <a:off x="552450" y="3924300"/>
            <a:ext cx="5257800" cy="2000250"/>
          </a:xfrm>
          <a:prstGeom prst="roundRect">
            <a:avLst>
              <a:gd name="adj" fmla="val 5714"/>
            </a:avLst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272C0B-F195-4F80-91E5-00FD5E1444BC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4838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Heart disease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19A218-9BC9-48F2-994E-60D5FD39E21A}"/>
              </a:ext>
            </a:extLst>
          </p:cNvPr>
          <p:cNvSpPr>
            <a:spLocks noGrp="1"/>
          </p:cNvSpPr>
          <p:nvPr/>
        </p:nvSpPr>
        <p:spPr>
          <a:xfrm>
            <a:off x="762000" y="4552950"/>
            <a:ext cx="48387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F67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F6771"/>
                </a:solidFill>
                <a:latin typeface="Helvetica Neue"/>
                <a:ea typeface="Helvetica Neue"/>
                <a:cs typeface="Helvetica Neue"/>
              </a:rPr>
              <a:t>Random forest is tuned with GridSearchCV after a six-model comparison. Reported test accuracy: 97.44%; clinical validation remains essential.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B9CB6A2-012B-4D3B-B27F-C7BAC015EA6B}"/>
              </a:ext>
            </a:extLst>
          </p:cNvPr>
          <p:cNvSpPr>
            <a:spLocks noGrp="1"/>
          </p:cNvSpPr>
          <p:nvPr/>
        </p:nvSpPr>
        <p:spPr>
          <a:xfrm>
            <a:off x="6381750" y="3924300"/>
            <a:ext cx="5257800" cy="2000250"/>
          </a:xfrm>
          <a:prstGeom prst="roundRect">
            <a:avLst>
              <a:gd name="adj" fmla="val 5714"/>
            </a:avLst>
          </a:prstGeom>
          <a:solidFill>
            <a:srgbClr val="F2F4F6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6950BE-2687-41D7-9758-3C0F8819A180}"/>
              </a:ext>
            </a:extLst>
          </p:cNvPr>
          <p:cNvSpPr>
            <a:spLocks noGrp="1"/>
          </p:cNvSpPr>
          <p:nvPr/>
        </p:nvSpPr>
        <p:spPr>
          <a:xfrm>
            <a:off x="6591300" y="4095750"/>
            <a:ext cx="4838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1212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21212"/>
                </a:solidFill>
                <a:latin typeface="Helvetica Neue"/>
                <a:ea typeface="Helvetica Neue"/>
                <a:cs typeface="Helvetica Neue"/>
              </a:rPr>
              <a:t>Student performance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F812C1-F0BF-4463-8382-5FDD3FB5F35F}"/>
              </a:ext>
            </a:extLst>
          </p:cNvPr>
          <p:cNvSpPr>
            <a:spLocks noGrp="1"/>
          </p:cNvSpPr>
          <p:nvPr/>
        </p:nvSpPr>
        <p:spPr>
          <a:xfrm>
            <a:off x="6591300" y="4552950"/>
            <a:ext cx="48387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F67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F6771"/>
                </a:solidFill>
                <a:latin typeface="Helvetica Neue"/>
                <a:ea typeface="Helvetica Neue"/>
                <a:cs typeface="Helvetica Neue"/>
              </a:rPr>
              <a:t>Random forest reaches about 99.2% test accuracy. Because the target comes from exam score, the notebook should be audited for indirect leakage.</a:t>
            </a:r>
          </a:p>
        </p:txBody>
      </p:sp>
    </p:spTree>
    <p:extLst>
      <p:ext uri="{BB962C8B-B14F-4D97-AF65-F5344CB8AC3E}">
        <p14:creationId xmlns:p14="http://schemas.microsoft.com/office/powerpoint/2010/main" val="651133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6478401-DA1C-4876-A898-C3D1DEFCE343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REGRESSION MODELS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7F184C-0DC6-46E2-987E-12C5EF0B5808}"/>
              </a:ext>
            </a:extLst>
          </p:cNvPr>
          <p:cNvSpPr>
            <a:spLocks noGrp="1"/>
          </p:cNvSpPr>
          <p:nvPr/>
        </p:nvSpPr>
        <p:spPr>
          <a:xfrm>
            <a:off x="552450" y="6667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9656"/>
          </a:bodyPr>
          <a:lstStyle/>
          <a:p>
            <a:pPr algn="l">
              <a:defRPr sz="2850" b="1" i="0">
                <a:solidFill>
                  <a:srgbClr val="1212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21212"/>
                </a:solidFill>
                <a:latin typeface="Helvetica Neue"/>
                <a:ea typeface="Helvetica Neue"/>
                <a:cs typeface="Helvetica Neue"/>
              </a:rPr>
              <a:t>The regression projects reveal both capability and where the data needs work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160751-BCAE-42EF-8829-62CB760B1A8C}"/>
              </a:ext>
            </a:extLst>
          </p:cNvPr>
          <p:cNvSpPr>
            <a:spLocks noGrp="1"/>
          </p:cNvSpPr>
          <p:nvPr/>
        </p:nvSpPr>
        <p:spPr>
          <a:xfrm>
            <a:off x="552450" y="1381125"/>
            <a:ext cx="1047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 i="0">
                <a:solidFill>
                  <a:srgbClr val="5F67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5F6771"/>
                </a:solidFill>
                <a:latin typeface="Helvetica Neue"/>
                <a:ea typeface="Helvetica Neue"/>
                <a:cs typeface="Helvetica Neue"/>
              </a:rPr>
              <a:t>The portfolio uses MAE, RMSE, and R² to compare linear, regularized, tree-based, and XGBoost regressors.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822F33B-F340-4108-8128-02CD88A0946C}"/>
              </a:ext>
            </a:extLst>
          </p:cNvPr>
          <p:cNvSpPr>
            <a:spLocks noGrp="1"/>
          </p:cNvSpPr>
          <p:nvPr/>
        </p:nvSpPr>
        <p:spPr>
          <a:xfrm>
            <a:off x="552450" y="2714625"/>
            <a:ext cx="3333750" cy="2333625"/>
          </a:xfrm>
          <a:prstGeom prst="roundRect">
            <a:avLst>
              <a:gd name="adj" fmla="val 4898"/>
            </a:avLst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F7F81B-E37E-4591-AC1F-90E25CF299B0}"/>
              </a:ext>
            </a:extLst>
          </p:cNvPr>
          <p:cNvSpPr>
            <a:spLocks noGrp="1"/>
          </p:cNvSpPr>
          <p:nvPr/>
        </p:nvSpPr>
        <p:spPr>
          <a:xfrm>
            <a:off x="762000" y="2886075"/>
            <a:ext cx="2914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Employee salary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B65029-C3B2-470A-8349-1355CD3A6E08}"/>
              </a:ext>
            </a:extLst>
          </p:cNvPr>
          <p:cNvSpPr>
            <a:spLocks noGrp="1"/>
          </p:cNvSpPr>
          <p:nvPr/>
        </p:nvSpPr>
        <p:spPr>
          <a:xfrm>
            <a:off x="762000" y="3343275"/>
            <a:ext cx="2914650" cy="1552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F67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F6771"/>
                </a:solidFill>
                <a:latin typeface="Helvetica Neue"/>
                <a:ea typeface="Helvetica Neue"/>
                <a:cs typeface="Helvetica Neue"/>
              </a:rPr>
              <a:t>Random forest leads the notebook with test R² = 0.357. Error interpretation should be returned to USD after transformations.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6AF252E-91C4-42F5-8699-BC363EDB4213}"/>
              </a:ext>
            </a:extLst>
          </p:cNvPr>
          <p:cNvSpPr>
            <a:spLocks noGrp="1"/>
          </p:cNvSpPr>
          <p:nvPr/>
        </p:nvSpPr>
        <p:spPr>
          <a:xfrm>
            <a:off x="4429125" y="2714625"/>
            <a:ext cx="3333750" cy="2333625"/>
          </a:xfrm>
          <a:prstGeom prst="roundRect">
            <a:avLst>
              <a:gd name="adj" fmla="val 4898"/>
            </a:avLst>
          </a:prstGeom>
          <a:solidFill>
            <a:srgbClr val="F2F4F6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93A776-C5EE-41F5-A9DA-D66CC0F41749}"/>
              </a:ext>
            </a:extLst>
          </p:cNvPr>
          <p:cNvSpPr>
            <a:spLocks noGrp="1"/>
          </p:cNvSpPr>
          <p:nvPr/>
        </p:nvSpPr>
        <p:spPr>
          <a:xfrm>
            <a:off x="4638675" y="2886075"/>
            <a:ext cx="2914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1212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21212"/>
                </a:solidFill>
                <a:latin typeface="Helvetica Neue"/>
                <a:ea typeface="Helvetica Neue"/>
                <a:cs typeface="Helvetica Neue"/>
              </a:rPr>
              <a:t>House price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AC216F-36B9-4370-AD90-FCA0B99BD799}"/>
              </a:ext>
            </a:extLst>
          </p:cNvPr>
          <p:cNvSpPr>
            <a:spLocks noGrp="1"/>
          </p:cNvSpPr>
          <p:nvPr/>
        </p:nvSpPr>
        <p:spPr>
          <a:xfrm>
            <a:off x="4638675" y="3343275"/>
            <a:ext cx="2914650" cy="1552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F67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F6771"/>
                </a:solidFill>
                <a:latin typeface="Helvetica Neue"/>
                <a:ea typeface="Helvetica Neue"/>
                <a:cs typeface="Helvetica Neue"/>
              </a:rPr>
              <a:t>Best listed R² is approximately −0.0005. The priority is feature quality and validation design—not more tuning.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0691B27-1915-4192-A60B-7C6BA9FD53C2}"/>
              </a:ext>
            </a:extLst>
          </p:cNvPr>
          <p:cNvSpPr>
            <a:spLocks noGrp="1"/>
          </p:cNvSpPr>
          <p:nvPr/>
        </p:nvSpPr>
        <p:spPr>
          <a:xfrm>
            <a:off x="8382000" y="2714625"/>
            <a:ext cx="3257550" cy="2333625"/>
          </a:xfrm>
          <a:prstGeom prst="roundRect">
            <a:avLst>
              <a:gd name="adj" fmla="val 4898"/>
            </a:avLst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10353F-44EA-49D9-9642-48C80763906A}"/>
              </a:ext>
            </a:extLst>
          </p:cNvPr>
          <p:cNvSpPr>
            <a:spLocks noGrp="1"/>
          </p:cNvSpPr>
          <p:nvPr/>
        </p:nvSpPr>
        <p:spPr>
          <a:xfrm>
            <a:off x="8591550" y="2886075"/>
            <a:ext cx="2838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Used-car price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B04277-2BF3-40A9-9E4C-3E7389DB5473}"/>
              </a:ext>
            </a:extLst>
          </p:cNvPr>
          <p:cNvSpPr>
            <a:spLocks noGrp="1"/>
          </p:cNvSpPr>
          <p:nvPr/>
        </p:nvSpPr>
        <p:spPr>
          <a:xfrm>
            <a:off x="8591550" y="3343275"/>
            <a:ext cx="2838450" cy="1552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F67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F6771"/>
                </a:solidFill>
                <a:latin typeface="Helvetica Neue"/>
                <a:ea typeface="Helvetica Neue"/>
                <a:cs typeface="Helvetica Neue"/>
              </a:rPr>
              <a:t>A rich preprocessing pipeline leads to tuned XGBoost. Save final MAE, RMSE, R², and residuals for a complete model record.</a:t>
            </a:r>
          </a:p>
        </p:txBody>
      </p:sp>
    </p:spTree>
    <p:extLst>
      <p:ext uri="{BB962C8B-B14F-4D97-AF65-F5344CB8AC3E}">
        <p14:creationId xmlns:p14="http://schemas.microsoft.com/office/powerpoint/2010/main" val="1348290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2554E74-8D8C-4413-A28A-0096E4C15B3E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REPORTED TEST RESULTS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543266-B089-4E63-8851-D7879310A29E}"/>
              </a:ext>
            </a:extLst>
          </p:cNvPr>
          <p:cNvSpPr>
            <a:spLocks noGrp="1"/>
          </p:cNvSpPr>
          <p:nvPr/>
        </p:nvSpPr>
        <p:spPr>
          <a:xfrm>
            <a:off x="552450" y="6667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1212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21212"/>
                </a:solidFill>
                <a:latin typeface="Helvetica Neue"/>
                <a:ea typeface="Helvetica Neue"/>
                <a:cs typeface="Helvetica Neue"/>
              </a:rPr>
              <a:t>Several selected classifiers report high holdout accuracy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08358F-135C-4163-BFB5-054BAAA33695}"/>
              </a:ext>
            </a:extLst>
          </p:cNvPr>
          <p:cNvSpPr>
            <a:spLocks noGrp="1"/>
          </p:cNvSpPr>
          <p:nvPr/>
        </p:nvSpPr>
        <p:spPr>
          <a:xfrm>
            <a:off x="552450" y="1285875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105"/>
          </a:bodyPr>
          <a:lstStyle/>
          <a:p>
            <a:pPr algn="l">
              <a:defRPr sz="1425" b="0" i="0">
                <a:solidFill>
                  <a:srgbClr val="5F67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5F6771"/>
                </a:solidFill>
                <a:latin typeface="Helvetica Neue"/>
                <a:ea typeface="Helvetica Neue"/>
                <a:cs typeface="Helvetica Neue"/>
              </a:rPr>
              <a:t>These values are saved notebook outputs. They use different selection rules and datasets, so they show project status—not a cross-project leaderboard.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="552450" y="2095500"/>
          <a:ext cx="6858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5316EDE-487A-49CF-88FC-1F23A527FE1C}"/>
              </a:ext>
            </a:extLst>
          </p:cNvPr>
          <p:cNvSpPr>
            <a:spLocks noGrp="1"/>
          </p:cNvSpPr>
          <p:nvPr/>
        </p:nvSpPr>
        <p:spPr>
          <a:xfrm>
            <a:off x="8020050" y="2095500"/>
            <a:ext cx="3619500" cy="1466850"/>
          </a:xfrm>
          <a:prstGeom prst="roundRect">
            <a:avLst>
              <a:gd name="adj" fmla="val 7792"/>
            </a:avLst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7587A7-4785-4840-8444-DE8F6D285BB0}"/>
              </a:ext>
            </a:extLst>
          </p:cNvPr>
          <p:cNvSpPr>
            <a:spLocks noGrp="1"/>
          </p:cNvSpPr>
          <p:nvPr/>
        </p:nvSpPr>
        <p:spPr>
          <a:xfrm>
            <a:off x="8229600" y="2266950"/>
            <a:ext cx="320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What to validate next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46B2F6-5ACC-4563-8A49-2ED59DE37088}"/>
              </a:ext>
            </a:extLst>
          </p:cNvPr>
          <p:cNvSpPr>
            <a:spLocks noGrp="1"/>
          </p:cNvSpPr>
          <p:nvPr/>
        </p:nvSpPr>
        <p:spPr>
          <a:xfrm>
            <a:off x="8229600" y="2724150"/>
            <a:ext cx="3200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F67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F6771"/>
                </a:solidFill>
                <a:latin typeface="Helvetica Neue"/>
                <a:ea typeface="Helvetica Neue"/>
                <a:cs typeface="Helvetica Neue"/>
              </a:rPr>
              <a:t>Check class balance, duplicates, leakage, and cross-validation before treating very high holdout scores as reliable.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ED92C96-8EFD-4FA1-840E-1CC7BD08F1FC}"/>
              </a:ext>
            </a:extLst>
          </p:cNvPr>
          <p:cNvSpPr>
            <a:spLocks noGrp="1"/>
          </p:cNvSpPr>
          <p:nvPr/>
        </p:nvSpPr>
        <p:spPr>
          <a:xfrm>
            <a:off x="8020050" y="4057650"/>
            <a:ext cx="3619500" cy="1466850"/>
          </a:xfrm>
          <a:prstGeom prst="roundRect">
            <a:avLst>
              <a:gd name="adj" fmla="val 7792"/>
            </a:avLst>
          </a:prstGeom>
          <a:solidFill>
            <a:srgbClr val="F2F4F6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D5C0E3-FDEC-453A-8801-D10360E8109B}"/>
              </a:ext>
            </a:extLst>
          </p:cNvPr>
          <p:cNvSpPr>
            <a:spLocks noGrp="1"/>
          </p:cNvSpPr>
          <p:nvPr/>
        </p:nvSpPr>
        <p:spPr>
          <a:xfrm>
            <a:off x="8229600" y="4229100"/>
            <a:ext cx="320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1212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21212"/>
                </a:solidFill>
                <a:latin typeface="Helvetica Neue"/>
                <a:ea typeface="Helvetica Neue"/>
                <a:cs typeface="Helvetica Neue"/>
              </a:rPr>
              <a:t>What to retain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5B8C3E-B51F-4CA3-9499-9B1129FC87B6}"/>
              </a:ext>
            </a:extLst>
          </p:cNvPr>
          <p:cNvSpPr>
            <a:spLocks noGrp="1"/>
          </p:cNvSpPr>
          <p:nvPr/>
        </p:nvSpPr>
        <p:spPr>
          <a:xfrm>
            <a:off x="8229600" y="4686300"/>
            <a:ext cx="3200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F67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F6771"/>
                </a:solidFill>
                <a:latin typeface="Helvetica Neue"/>
                <a:ea typeface="Helvetica Neue"/>
                <a:cs typeface="Helvetica Neue"/>
              </a:rPr>
              <a:t>The notebooks already capture useful practices: preprocessing pipelines, multiple models, and task-aware metrics.</a:t>
            </a:r>
          </a:p>
        </p:txBody>
      </p:sp>
    </p:spTree>
    <p:extLst>
      <p:ext uri="{BB962C8B-B14F-4D97-AF65-F5344CB8AC3E}">
        <p14:creationId xmlns:p14="http://schemas.microsoft.com/office/powerpoint/2010/main" val="1865422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FE9AD7A-43D3-4FCF-B61F-9A1F58BF000C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RECOMMENDED NEXT STEPS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168057-9E06-4594-8F77-C8F5D9088A9D}"/>
              </a:ext>
            </a:extLst>
          </p:cNvPr>
          <p:cNvSpPr>
            <a:spLocks noGrp="1"/>
          </p:cNvSpPr>
          <p:nvPr/>
        </p:nvSpPr>
        <p:spPr>
          <a:xfrm>
            <a:off x="552450" y="171450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4350" b="1" i="0">
                <a:solidFill>
                  <a:srgbClr val="1212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 i="0">
                <a:solidFill>
                  <a:srgbClr val="121212"/>
                </a:solidFill>
                <a:latin typeface="Helvetica Neue"/>
                <a:ea typeface="Helvetica Neue"/>
                <a:cs typeface="Helvetica Neue"/>
              </a:rPr>
              <a:t>Make every model easier to trust.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D4C9B7-A4C1-4C0D-BF4F-340281D2B828}"/>
              </a:ext>
            </a:extLst>
          </p:cNvPr>
          <p:cNvSpPr>
            <a:spLocks noGrp="1"/>
          </p:cNvSpPr>
          <p:nvPr/>
        </p:nvSpPr>
        <p:spPr>
          <a:xfrm>
            <a:off x="552450" y="3048000"/>
            <a:ext cx="104775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0" i="0">
                <a:solidFill>
                  <a:srgbClr val="1212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121212"/>
                </a:solidFill>
                <a:latin typeface="Helvetica Neue"/>
                <a:ea typeface="Helvetica Neue"/>
                <a:cs typeface="Helvetica Neue"/>
              </a:rPr>
              <a:t>1. Standardize dataset versions, split strategies, baselines, and final metric tables.</a:t>
            </a:r>
          </a:p>
          <a:p>
            <a:pPr algn="l">
              <a:defRPr sz="1875" b="0" i="0">
                <a:solidFill>
                  <a:srgbClr val="1212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121212"/>
                </a:solidFill>
                <a:latin typeface="Helvetica Neue"/>
                <a:ea typeface="Helvetica Neue"/>
                <a:cs typeface="Helvetica Neue"/>
              </a:rPr>
              <a:t>2. Use cross-validation plus a final untouched test set.</a:t>
            </a:r>
          </a:p>
          <a:p>
            <a:pPr algn="l">
              <a:defRPr sz="1875" b="0" i="0">
                <a:solidFill>
                  <a:srgbClr val="1212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121212"/>
                </a:solidFill>
                <a:latin typeface="Helvetica Neue"/>
                <a:ea typeface="Helvetica Neue"/>
                <a:cs typeface="Helvetica Neue"/>
              </a:rPr>
              <a:t>3. Add threshold, calibration, fairness, and privacy review for consequential classifiers.</a:t>
            </a:r>
          </a:p>
          <a:p>
            <a:pPr algn="l">
              <a:defRPr sz="1875" b="0" i="0">
                <a:solidFill>
                  <a:srgbClr val="1212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121212"/>
                </a:solidFill>
                <a:latin typeface="Helvetica Neue"/>
                <a:ea typeface="Helvetica Neue"/>
                <a:cs typeface="Helvetica Neue"/>
              </a:rPr>
              <a:t>4. Save feature importance, residual plots, and errors on the original scale for regression.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7C1DE7-3835-4A4B-A516-EE380042CC47}"/>
              </a:ext>
            </a:extLst>
          </p:cNvPr>
          <p:cNvSpPr>
            <a:spLocks noGrp="1"/>
          </p:cNvSpPr>
          <p:nvPr/>
        </p:nvSpPr>
        <p:spPr>
          <a:xfrm>
            <a:off x="552450" y="5191125"/>
            <a:ext cx="11087100" cy="19050"/>
          </a:xfrm>
          <a:prstGeom prst="rect">
            <a:avLst/>
          </a:prstGeom>
          <a:solidFill>
            <a:srgbClr val="CBD1D7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18E4FB-8681-4379-A8C3-96F1CA130494}"/>
              </a:ext>
            </a:extLst>
          </p:cNvPr>
          <p:cNvSpPr>
            <a:spLocks noGrp="1"/>
          </p:cNvSpPr>
          <p:nvPr/>
        </p:nvSpPr>
        <p:spPr>
          <a:xfrm>
            <a:off x="552450" y="5524500"/>
            <a:ext cx="1047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515"/>
          </a:bodyPr>
          <a:lstStyle/>
          <a:p>
            <a:pPr algn="l">
              <a:defRPr sz="17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 portfolio is strongest when every result is reproducible, interpretable, and matched to its real decision context.</a:t>
            </a:r>
          </a:p>
        </p:txBody>
      </p:sp>
    </p:spTree>
    <p:extLst>
      <p:ext uri="{BB962C8B-B14F-4D97-AF65-F5344CB8AC3E}">
        <p14:creationId xmlns:p14="http://schemas.microsoft.com/office/powerpoint/2010/main" val="198014888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911</Words>
  <Application>Microsoft Macintosh PowerPoint</Application>
  <DocSecurity>0</DocSecurity>
  <PresentationFormat>Widescreen</PresentationFormat>
  <Paragraphs>96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Calibri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dipson sharma</cp:lastModifiedBy>
  <cp:revision>1</cp:revision>
  <dcterms:created xsi:type="dcterms:W3CDTF">2026-08-10T10:59:49Z</dcterms:created>
  <dcterms:modified xsi:type="dcterms:W3CDTF">2026-08-10T11:06:22Z</dcterms:modified>
</cp:coreProperties>
</file>